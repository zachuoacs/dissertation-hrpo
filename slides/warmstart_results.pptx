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1F1F"/>
                </a:solidFill>
                <a:latin typeface="Calibri"/>
              </a:rPr>
              <a:t>GSM8K accuracy (%), mean of 3 seeds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HRPO (v3)</c:v>
                </c:pt>
              </c:strCache>
            </c:strRef>
          </c:tx>
          <c:spPr>
            <a:ln w="31750">
              <a:solidFill>
                <a:srgbClr val="EB6834"/>
              </a:solidFill>
            </a:ln>
          </c:spPr>
          <c:marker>
            <c:symbol val="circle"/>
            <c:size val="10"/>
            <c:spPr>
              <a:solidFill>
                <a:srgbClr val="EB6834"/>
              </a:solidFill>
              <a:ln w="19050"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1F1F"/>
                        </a:solidFill>
                        <a:latin typeface="Calibri"/>
                      </a:rPr>
                      <a:t>70.48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1F1F"/>
                        </a:solidFill>
                        <a:latin typeface="Calibri"/>
                      </a:rPr>
                      <a:t>68.44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Cold start</c:v>
                </c:pt>
                <c:pt idx="1">
                  <c:v>Warm start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70.48</c:v>
                </c:pt>
                <c:pt idx="1">
                  <c:v>68.44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GRPO (v1)</c:v>
                </c:pt>
              </c:strCache>
            </c:strRef>
          </c:tx>
          <c:spPr>
            <a:ln w="31750">
              <a:solidFill>
                <a:srgbClr val="2A78D6"/>
              </a:solidFill>
            </a:ln>
          </c:spPr>
          <c:marker>
            <c:symbol val="circle"/>
            <c:size val="10"/>
            <c:spPr>
              <a:solidFill>
                <a:srgbClr val="2A78D6"/>
              </a:solidFill>
              <a:ln w="19050"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1F1F"/>
                        </a:solidFill>
                        <a:latin typeface="Calibri"/>
                      </a:rPr>
                      <a:t>69.72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F1F1F"/>
                        </a:solidFill>
                        <a:latin typeface="Calibri"/>
                      </a:rPr>
                      <a:t>68.51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Cold start</c:v>
                </c:pt>
                <c:pt idx="1">
                  <c:v>Warm start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69.72</c:v>
                </c:pt>
                <c:pt idx="1">
                  <c:v>68.51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3DF"/>
            </a:solidFill>
          </a:ln>
        </c:spPr>
        <c:txPr>
          <a:bodyPr/>
          <a:lstStyle/>
          <a:p>
            <a:pPr>
              <a:defRPr sz="1300">
                <a:solidFill>
                  <a:srgbClr val="1F1F1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1.0"/>
          <c:min val="67.0"/>
        </c:scaling>
        <c:delete val="0"/>
        <c:axPos val="l"/>
        <c:majorGridlines>
          <c:spPr>
            <a:ln w="9525">
              <a:solidFill>
                <a:srgbClr val="E4E3DF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2514E"/>
                </a:solidFill>
              </a:defRPr>
            </a:pPr>
          </a:p>
        </c:txPr>
        <c:crossAx val="2118791784"/>
        <c:crosses val="autoZero"/>
        <c:majorUnit val="1.0"/>
      </c:valAx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52514E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1F1F"/>
                </a:solidFill>
                <a:latin typeface="Cambria"/>
              </a:rPr>
              <a:t>Warm start does not rescue the latent 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2514E"/>
                </a:solidFill>
                <a:latin typeface="Calibri"/>
              </a:rPr>
              <a:t>Warm start: one supervised epoch on GSM8K reference solutions before RL.</a:t>
            </a:r>
            <a:br/>
            <a:r>
              <a:rPr sz="1500" b="0">
                <a:solidFill>
                  <a:srgbClr val="52514E"/>
                </a:solidFill>
                <a:latin typeface="Calibri"/>
              </a:rPr>
              <a:t>HRPO (v3) is warm-started with the latent blend on (T1); GRPO (v1) with it off (C3).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11480" y="1874519"/>
          <a:ext cx="55778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55080" y="2011680"/>
          <a:ext cx="5285232" cy="17190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87168"/>
                <a:gridCol w="603504"/>
                <a:gridCol w="603504"/>
                <a:gridCol w="749808"/>
                <a:gridCol w="841248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52514E"/>
                          </a:solidFill>
                          <a:latin typeface="Calibri"/>
                        </a:rPr>
                        <a:t>Comparison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D5D0"/>
                      </a:solidFill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52514E"/>
                          </a:solidFill>
                          <a:latin typeface="Calibri"/>
                        </a:rPr>
                        <a:t>From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D5D0"/>
                      </a:solidFill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52514E"/>
                          </a:solidFill>
                          <a:latin typeface="Calibri"/>
                        </a:rPr>
                        <a:t>To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D5D0"/>
                      </a:solidFill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52514E"/>
                          </a:solidFill>
                          <a:latin typeface="Calibri"/>
                        </a:rPr>
                        <a:t>Δ (pts)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D5D0"/>
                      </a:solidFill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52514E"/>
                          </a:solidFill>
                          <a:latin typeface="Calibri"/>
                        </a:rPr>
                        <a:t>Seeds</a:t>
                      </a:r>
                      <a:br/>
                      <a:r>
                        <a:rPr sz="1200" b="1">
                          <a:solidFill>
                            <a:srgbClr val="52514E"/>
                          </a:solidFill>
                          <a:latin typeface="Calibri"/>
                        </a:rPr>
                        <a:t>p &lt; .05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D5D0"/>
                      </a:solidFill>
                    </a:lnB>
                    <a:solidFill>
                      <a:srgbClr val="F1F0E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HRPO: cold → warm  (v3 → T1)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D5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70.48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D5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68.44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D5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−2.05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D5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 /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D5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GRPO: cold → warm  (v1 → C3)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D5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69.72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D5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68.51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D5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−1.21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D5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 /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D5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Warm: GRPO → HRPO  (C3 → T1)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D5D0"/>
                      </a:solidFill>
                    </a:lnB>
                    <a:solidFill>
                      <a:srgbClr val="F7F6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68.51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D5D0"/>
                      </a:solidFill>
                    </a:lnB>
                    <a:solidFill>
                      <a:srgbClr val="F7F6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68.44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D5D0"/>
                      </a:solidFill>
                    </a:lnB>
                    <a:solidFill>
                      <a:srgbClr val="F7F6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−0.08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D5D0"/>
                      </a:solidFill>
                    </a:lnB>
                    <a:solidFill>
                      <a:srgbClr val="F7F6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0 /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6D5D0"/>
                      </a:solidFill>
                    </a:lnB>
                    <a:solidFill>
                      <a:srgbClr val="F7F6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55080" y="3977639"/>
            <a:ext cx="5285232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500" b="1">
                <a:solidFill>
                  <a:srgbClr val="1F1F1F"/>
                </a:solidFill>
                <a:latin typeface="Calibri"/>
              </a:rPr>
              <a:t>Both arms lose accuracy. </a:t>
            </a:r>
            <a:r>
              <a:rPr sz="1500" b="0">
                <a:solidFill>
                  <a:srgbClr val="1F1F1F"/>
                </a:solidFill>
                <a:latin typeface="Calibri"/>
              </a:rPr>
              <a:t>GRPO has no latent channel, so the cost is the supervised epoch itself.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500" b="1">
                <a:solidFill>
                  <a:srgbClr val="1F1F1F"/>
                </a:solidFill>
                <a:latin typeface="Calibri"/>
              </a:rPr>
              <a:t>Warm HRPO ties warm GRPO </a:t>
            </a:r>
            <a:r>
              <a:rPr sz="1500" b="0">
                <a:solidFill>
                  <a:srgbClr val="1F1F1F"/>
                </a:solidFill>
                <a:latin typeface="Calibri"/>
              </a:rPr>
              <a:t>(−0.08): the null holds.</a:t>
            </a:r>
          </a:p>
          <a:p>
            <a:pPr marL="228600" indent="-228600">
              <a:spcAft>
                <a:spcPts val="1000"/>
              </a:spcAft>
              <a:buFont typeface="Arial"/>
              <a:buChar char="•"/>
            </a:pPr>
            <a:r>
              <a:rPr sz="1500" b="1">
                <a:solidFill>
                  <a:srgbClr val="1F1F1F"/>
                </a:solidFill>
                <a:latin typeface="Calibri"/>
              </a:rPr>
              <a:t>Latent channel off at inference: </a:t>
            </a:r>
            <a:r>
              <a:rPr sz="1500" b="0">
                <a:solidFill>
                  <a:srgbClr val="1F1F1F"/>
                </a:solidFill>
                <a:latin typeface="Calibri"/>
              </a:rPr>
              <a:t>warm HRPO +0.28 pts, so no dependence on it was created.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A66"/>
                </a:solidFill>
                <a:latin typeface="Calibri"/>
              </a:rPr>
              <a:t>Qwen2.5-1.5B · GSM8K test (n = 1319) · repetition penalty 1.0 · seeds 42, 43, 44 · significance: paired McNemar per seed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